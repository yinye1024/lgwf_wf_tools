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20.xml"/><Relationship Id="rId3" Type="http://schemas.openxmlformats.org/officeDocument/2006/relationships/tags" Target="../tags/tag21.xml"/><Relationship Id="rId4" Type="http://schemas.openxmlformats.org/officeDocument/2006/relationships/tags" Target="../tags/tag22.xml"/><Relationship Id="rId5" Type="http://schemas.openxmlformats.org/officeDocument/2006/relationships/tags" Target="../tags/tag23.xml"/><Relationship Id="rId6" Type="http://schemas.openxmlformats.org/officeDocument/2006/relationships/tags" Target="../tags/tag24.xml"/><Relationship Id="rId7" Type="http://schemas.openxmlformats.org/officeDocument/2006/relationships/tags" Target="../tags/tag25.xml"/><Relationship Id="rId8" Type="http://schemas.openxmlformats.org/officeDocument/2006/relationships/tags" Target="../tags/tag26.xml"/><Relationship Id="rId9" Type="http://schemas.openxmlformats.org/officeDocument/2006/relationships/tags" Target="../tags/tag27.xml"/><Relationship Id="rId10" Type="http://schemas.openxmlformats.org/officeDocument/2006/relationships/tags" Target="../tags/tag28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1028700"/>
            <a:ext cx="7239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5100" b="1">
                <a:solidFill>
                  <a:srgbClr val="111111"/>
                </a:solidFill>
              </a:defRPr>
            </a:pPr>
            <a:r>
              <a:rPr sz="5100" b="1">
                <a:solidFill>
                  <a:srgbClr val="111111"/>
                </a:solidFill>
              </a:rPr>
              <a:t>LGWF Workflow</a:t>
            </a:r>
            <a:endParaRPr sz="5100" b="1">
              <a:solidFill>
                <a:srgbClr val="111111"/>
              </a:solidFill>
            </a:endParaRPr>
          </a:p>
          <a:p>
            <a:pPr algn="l">
              <a:defRPr sz="5100" b="1">
                <a:solidFill>
                  <a:srgbClr val="111111"/>
                </a:solidFill>
              </a:defRPr>
            </a:pPr>
            <a:r>
              <a:rPr sz="5100" b="1">
                <a:solidFill>
                  <a:srgbClr val="111111"/>
                </a:solidFill>
              </a:rPr>
              <a:t>DSL 工作流引擎</a:t>
            </a:r>
            <a:endParaRPr sz="51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3238500"/>
            <a:ext cx="666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runtime 用 DSL 暴露能力，主 agent 用 DSL 编排工作流</a:t>
            </a:r>
            <a:endParaRPr sz="19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382000" y="0"/>
            <a:ext cx="3810000" cy="68580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858250" y="114300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一套协议</a:t>
            </a:r>
            <a:endParaRPr sz="2250" b="1">
              <a:solidFill>
                <a:srgbClr val="111111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858250" y="1952625"/>
            <a:ext cx="2476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暴露能力</a:t>
            </a:r>
            <a:endParaRPr sz="2400" b="0">
              <a:solidFill>
                <a:srgbClr val="111111"/>
              </a:solidFill>
            </a:endParaRPr>
          </a:p>
          <a:p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编排意图</a:t>
            </a:r>
            <a:endParaRPr sz="2400" b="0">
              <a:solidFill>
                <a:srgbClr val="111111"/>
              </a:solidFill>
            </a:endParaRPr>
          </a:p>
          <a:p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监控执行</a:t>
            </a:r>
            <a:endParaRPr sz="2400" b="0">
              <a:solidFill>
                <a:srgbClr val="111111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858250" y="476250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sz="1800" b="1">
                <a:solidFill>
                  <a:srgbClr val="FF6B35"/>
                </a:solidFill>
              </a:rPr>
              <a:t>/lgwf-wf-tools init</a:t>
            </a:r>
            <a:endParaRPr sz="1800" b="1">
              <a:solidFill>
                <a:srgbClr val="FF6B3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01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lgwf-wf-tools 是基于 DSL 的工作流引擎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DSL 是 runtime 和主 agent 之间的协作协议，让 agent 与工作流配合更丝滑。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33400" y="2019300"/>
            <a:ext cx="3238500" cy="167894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62000" y="2571750"/>
            <a:ext cx="2781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暴露能力</a:t>
            </a:r>
            <a:endParaRPr sz="2025" b="1">
              <a:solidFill>
                <a:srgbClr val="111111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62000" y="3000375"/>
            <a:ext cx="2781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runtime 通过 DSL 提供可调用能力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4248150" y="2019300"/>
            <a:ext cx="3238500" cy="167894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476750" y="2571750"/>
            <a:ext cx="2781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编排意图</a:t>
            </a:r>
            <a:endParaRPr sz="2025" b="1">
              <a:solidFill>
                <a:srgbClr val="111111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4476750" y="3000375"/>
            <a:ext cx="2781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主 agent 把用户目标拆成 workflow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7962900" y="2019300"/>
            <a:ext cx="3238500" cy="167894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191500" y="2571750"/>
            <a:ext cx="2781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执行节点</a:t>
            </a:r>
            <a:endParaRPr sz="2025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191500" y="3000375"/>
            <a:ext cx="2781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runtime 编译 graph 并驱动 client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533400" y="3997325"/>
            <a:ext cx="3238500" cy="159639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5" name="矩形 14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762000" y="4549775"/>
            <a:ext cx="2781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监控状态</a:t>
            </a:r>
            <a:endParaRPr sz="2025" b="1">
              <a:solidFill>
                <a:srgbClr val="111111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762000" y="4978400"/>
            <a:ext cx="2781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主 agent 跟踪结果、失败和等待点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4248150" y="3997325"/>
            <a:ext cx="3238500" cy="159639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8" name="矩形 17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4476750" y="4549775"/>
            <a:ext cx="2781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人机协同</a:t>
            </a:r>
            <a:endParaRPr sz="2025" b="1">
              <a:solidFill>
                <a:srgbClr val="111111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4476750" y="4978400"/>
            <a:ext cx="2781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确认点把控制权交回用户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7962900" y="3997325"/>
            <a:ext cx="3238500" cy="1602105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矩形 20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8191500" y="4549775"/>
            <a:ext cx="2781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持续复用</a:t>
            </a:r>
            <a:endParaRPr sz="2025" b="1">
              <a:solidFill>
                <a:srgbClr val="111111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8191500" y="4978400"/>
            <a:ext cx="2781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成熟路径沉淀成可复用 DSL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02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主 agent 通过 DSL 编排工作流实现用户意图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用户只表达目标，主 agent 负责选择 workflow、组织上下文、启动执行并监控状态。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84810" y="2381250"/>
            <a:ext cx="247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你描述目标</a:t>
            </a:r>
            <a:endParaRPr sz="2625" b="1">
              <a:solidFill>
                <a:srgbClr val="111111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84810" y="300990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可以是创建、修复、运行、测试、审计或后续升级。</a:t>
            </a:r>
            <a:endParaRPr sz="1725" b="0">
              <a:solidFill>
                <a:srgbClr val="555555"/>
              </a:solidFill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3771265" y="3124200"/>
            <a:ext cx="1066800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980305" y="2038350"/>
            <a:ext cx="2857500" cy="2190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304155" y="25908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FF6B35"/>
                </a:solidFill>
              </a:defRPr>
            </a:pPr>
            <a:r>
              <a:rPr sz="2400" b="1">
                <a:solidFill>
                  <a:srgbClr val="FF6B35"/>
                </a:solidFill>
              </a:rPr>
              <a:t>lgwf-wf-tools</a:t>
            </a:r>
            <a:endParaRPr sz="2400" b="1">
              <a:solidFill>
                <a:srgbClr val="FF6B35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361305" y="3200400"/>
            <a:ext cx="2095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编排 DSL workflow</a:t>
            </a:r>
            <a:endParaRPr sz="1575" b="0">
              <a:solidFill>
                <a:srgbClr val="111111"/>
              </a:solidFill>
            </a:endParaRPr>
          </a:p>
          <a:p>
            <a:pPr algn="ctr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监控执行状态</a:t>
            </a:r>
            <a:endParaRPr sz="1575" b="0">
              <a:solidFill>
                <a:srgbClr val="111111"/>
              </a:solidFill>
            </a:endParaRPr>
          </a:p>
          <a:p>
            <a:pPr algn="ctr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交付可验证结果</a:t>
            </a:r>
            <a:endParaRPr sz="1575" b="0">
              <a:solidFill>
                <a:srgbClr val="111111"/>
              </a:solidFill>
            </a:endParaRPr>
          </a:p>
        </p:txBody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7960995" y="3124200"/>
            <a:ext cx="1066800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210675" y="2381250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你确认和验收</a:t>
            </a:r>
            <a:endParaRPr sz="2625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210675" y="3009900"/>
            <a:ext cx="2190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runtime 负责执行控制面，主 agent 负责把进度、失败和确认点带回对话。</a:t>
            </a:r>
            <a:endParaRPr sz="1725" b="0">
              <a:solidFill>
                <a:srgbClr val="55555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03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第一次使用先接入主 agent 的 DSL workflow 入口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初始化完成后，主 agent 可以通过 lgwf-wf-tools 编排和监控 workflow。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57250" y="207645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6B35"/>
                </a:solidFill>
              </a:defRPr>
            </a:pPr>
            <a:r>
              <a:rPr sz="4350" b="1">
                <a:solidFill>
                  <a:srgbClr val="FF6B35"/>
                </a:solidFill>
              </a:rPr>
              <a:t>01</a:t>
            </a:r>
            <a:endParaRPr sz="4350" b="1">
              <a:solidFill>
                <a:srgbClr val="FF6B35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57250" y="295275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安装 skill</a:t>
            </a:r>
            <a:endParaRPr sz="2400" b="1">
              <a:solidFill>
                <a:srgbClr val="111111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57250" y="3524250"/>
            <a:ext cx="2667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把 lgwf-wf-tools 安装为 Codex skill</a:t>
            </a:r>
            <a:endParaRPr sz="1650" b="0">
              <a:solidFill>
                <a:srgbClr val="555555"/>
              </a:solidFill>
            </a:endParaRPr>
          </a:p>
        </p:txBody>
      </p:sp>
      <p:sp>
        <p:nvSpPr>
          <p:cNvPr id="8" name="直接连接符 7"/>
          <p:cNvSpPr>
            <a:spLocks noGrp="1"/>
          </p:cNvSpPr>
          <p:nvPr/>
        </p:nvSpPr>
        <p:spPr>
          <a:xfrm>
            <a:off x="3429000" y="3143250"/>
            <a:ext cx="571500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572000" y="207645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6B35"/>
                </a:solidFill>
              </a:defRPr>
            </a:pPr>
            <a:r>
              <a:rPr sz="4350" b="1">
                <a:solidFill>
                  <a:srgbClr val="FF6B35"/>
                </a:solidFill>
              </a:rPr>
              <a:t>02</a:t>
            </a:r>
            <a:endParaRPr sz="4350" b="1">
              <a:solidFill>
                <a:srgbClr val="FF6B35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572000" y="295275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打开新 thread</a:t>
            </a:r>
            <a:endParaRPr sz="2400" b="1">
              <a:solidFill>
                <a:srgbClr val="111111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572000" y="3524250"/>
            <a:ext cx="2667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让 Codex 重新加载可用 skill</a:t>
            </a:r>
            <a:endParaRPr sz="1650" b="0">
              <a:solidFill>
                <a:srgbClr val="555555"/>
              </a:solidFill>
            </a:endParaRPr>
          </a:p>
        </p:txBody>
      </p:sp>
      <p:sp>
        <p:nvSpPr>
          <p:cNvPr id="12" name="直接连接符 11"/>
          <p:cNvSpPr>
            <a:spLocks noGrp="1"/>
          </p:cNvSpPr>
          <p:nvPr/>
        </p:nvSpPr>
        <p:spPr>
          <a:xfrm>
            <a:off x="7143750" y="3143250"/>
            <a:ext cx="571500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286750" y="207645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6B35"/>
                </a:solidFill>
              </a:defRPr>
            </a:pPr>
            <a:r>
              <a:rPr sz="4350" b="1">
                <a:solidFill>
                  <a:srgbClr val="FF6B35"/>
                </a:solidFill>
              </a:rPr>
              <a:t>03</a:t>
            </a:r>
            <a:endParaRPr sz="4350" b="1">
              <a:solidFill>
                <a:srgbClr val="FF6B3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86750" y="295275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执行初始化</a:t>
            </a:r>
            <a:endParaRPr sz="2400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286750" y="3524250"/>
            <a:ext cx="2667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输入 /lgwf-wf-tools init</a:t>
            </a:r>
            <a:endParaRPr sz="1650" b="0">
              <a:solidFill>
                <a:srgbClr val="555555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524000" y="5143500"/>
            <a:ext cx="9144000" cy="533400"/>
          </a:xfrm>
          <a:prstGeom prst="rect">
            <a:avLst/>
          </a:prstGeom>
          <a:solidFill>
            <a:srgbClr val="F7F7F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809750" y="52578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/lgwf-wf-tools init</a:t>
            </a:r>
            <a:endParaRPr sz="1875" b="1">
              <a:solidFill>
                <a:srgbClr val="111111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04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日常使用可以直接说目标，也可以显式调用命令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自然语言表达用户意图，命令明确入口；主 agent 最终都会落到 DSL workflow。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66750" y="2000250"/>
            <a:ext cx="4953000" cy="31432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952500" y="23241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常用命令</a:t>
            </a:r>
            <a:endParaRPr sz="2325" b="1">
              <a:solidFill>
                <a:srgbClr val="111111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47750" y="30099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76350" y="29527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/lgwf-wf-tools help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47750" y="34099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276350" y="335280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/lgwf-wf-tools doctor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47750" y="38100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276350" y="37528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/lgwf-wf-tools list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047750" y="42100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276350" y="415290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/lgwf-wf-tools run &lt;path&gt;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47750" y="46101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276350" y="45529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/lgwf-wf-tools self-improve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572250" y="2000250"/>
            <a:ext cx="4953000" cy="31432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572250" y="2000250"/>
            <a:ext cx="4953000" cy="3143250"/>
          </a:xfrm>
          <a:prstGeom prst="rect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858000" y="23241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自然语言</a:t>
            </a:r>
            <a:endParaRPr sz="2325" b="1">
              <a:solidFill>
                <a:srgbClr val="111111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953250" y="3086100"/>
            <a:ext cx="95250" cy="9525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181850" y="3028950"/>
            <a:ext cx="3771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帮我创建一个新的 workflow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953250" y="3543300"/>
            <a:ext cx="95250" cy="9525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181850" y="3486150"/>
            <a:ext cx="3771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这个 workflow 失败了，帮我定位并修复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953250" y="4000500"/>
            <a:ext cx="95250" cy="9525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181850" y="3943350"/>
            <a:ext cx="3771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修完后帮我生成 E2E 测试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953250" y="4457700"/>
            <a:ext cx="95250" cy="9525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181850" y="4400550"/>
            <a:ext cx="3771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帮我做一次发布前检查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05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DSL 让 agent 和工作流的配合更丝滑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runtime 暴露能力，主 agent 编排路径并监控执行，用户只在关键节点确认。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714625"/>
            <a:ext cx="1352550" cy="95250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04850" y="304800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用户意图</a:t>
            </a:r>
            <a:endParaRPr sz="1650" b="1">
              <a:solidFill>
                <a:srgbClr val="FFFFFF"/>
              </a:solidFill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2057400" y="3190875"/>
            <a:ext cx="314325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466975" y="2714625"/>
            <a:ext cx="1352550" cy="9525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562225" y="304800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DSL 编排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3914775" y="3190875"/>
            <a:ext cx="314325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324350" y="2714625"/>
            <a:ext cx="1352550" cy="9525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419600" y="304800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能力暴露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5772150" y="3190875"/>
            <a:ext cx="314325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181725" y="2714625"/>
            <a:ext cx="1352550" cy="9525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76975" y="304800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runtime 执行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6" name="直接连接符 15"/>
          <p:cNvSpPr>
            <a:spLocks noGrp="1"/>
          </p:cNvSpPr>
          <p:nvPr/>
        </p:nvSpPr>
        <p:spPr>
          <a:xfrm>
            <a:off x="7629525" y="3190875"/>
            <a:ext cx="314325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39100" y="2714625"/>
            <a:ext cx="1352550" cy="9525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134350" y="304800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主 agent 监控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9486900" y="3190875"/>
            <a:ext cx="314325" cy="0"/>
          </a:xfrm>
          <a:prstGeom prst="line">
            <a:avLst/>
          </a:prstGeom>
          <a:ln w="1905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896475" y="2714625"/>
            <a:ext cx="1352550" cy="95250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991725" y="304800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确认交付</a:t>
            </a:r>
            <a:endParaRPr sz="1650" b="1">
              <a:solidFill>
                <a:srgbClr val="FFFFFF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428750" y="447675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DSL 把用户意图、runtime 能力、agent 行动和验证结果放进同一张可追踪的工作流图。</a:t>
            </a:r>
            <a:endParaRPr sz="1875" b="0">
              <a:solidFill>
                <a:srgbClr val="555555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06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DSL 为不同强度的 agent 协作提供统一表达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主 agent 可以按任务复杂度选择 CODEX、ReAct 或 Agent loop，同时让 runtime 统一执行和记录。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095500"/>
            <a:ext cx="3238500" cy="31432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095500"/>
            <a:ext cx="3238500" cy="3143250"/>
          </a:xfrm>
          <a:prstGeom prst="rect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4003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CODEX</a:t>
            </a:r>
            <a:endParaRPr sz="2400" b="1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9908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单节点执行</a:t>
            </a:r>
            <a:endParaRPr sz="18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562350"/>
            <a:ext cx="2667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适合：简单生成、摘要、改写、轻量分析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4438650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选择信号：结果可直接人工看，或失败成本很低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419600" y="2095500"/>
            <a:ext cx="3238500" cy="31432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686300" y="24003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ReAct</a:t>
            </a:r>
            <a:endParaRPr sz="24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686300" y="29908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按 spec 闭环</a:t>
            </a:r>
            <a:endParaRPr sz="1800" b="1">
              <a:solidFill>
                <a:srgbClr val="111111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4686300" y="3562350"/>
            <a:ext cx="2667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适合：单个分析产物、规范化报告、结构化产物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686300" y="4438650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选择信号：需要 reason、act、observe、decide 提升规范遵循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229600" y="2095500"/>
            <a:ext cx="3238500" cy="31432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矩形 16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496300" y="24003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rPr sz="2400" b="1">
                <a:solidFill>
                  <a:srgbClr val="FF6B35"/>
                </a:solidFill>
              </a:rPr>
              <a:t>Agent loop</a:t>
            </a:r>
            <a:endParaRPr sz="2400" b="1">
              <a:solidFill>
                <a:srgbClr val="FF6B3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496300" y="29908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节点内工程闭环</a:t>
            </a:r>
            <a:endParaRPr sz="1800" b="1">
              <a:solidFill>
                <a:srgbClr val="111111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496300" y="3562350"/>
            <a:ext cx="2667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适合：同一分析任务需要诊断、计划、执行、观察和验证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8496300" y="4438650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选择信号：需要 loop 状态、artifact、verify 和人工等待</a:t>
            </a:r>
            <a:endParaRPr sz="1425" b="0">
              <a:solidFill>
                <a:srgbClr val="555555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07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ReAct 示例：主 agent 把规范化推理交给 DSL 节点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REACT 节点把 reason、act、observe、decide 固定为可复用的分析闭环。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66750" y="20574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什么时候用</a:t>
            </a:r>
            <a:endParaRPr sz="2025" b="1">
              <a:solidFill>
                <a:srgbClr val="FF6B35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81050" y="25336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09650" y="247650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同一个分析产物有明确输出规范</a:t>
            </a:r>
            <a:endParaRPr sz="1425" b="0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28956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09650" y="283845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REASON、ACT、OBSERVE 可共用一个 SPEC</a:t>
            </a:r>
            <a:endParaRPr sz="1425" b="0">
              <a:solidFill>
                <a:srgbClr val="111111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32575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09650" y="320040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reason 先形成分析策略和关注点</a:t>
            </a:r>
            <a:endParaRPr sz="1425" b="0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81050" y="36195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009650" y="356235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act 生成或修订 analysis.md 等产物</a:t>
            </a:r>
            <a:endParaRPr sz="1425" b="0">
              <a:solidFill>
                <a:srgbClr val="111111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1050" y="39814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09650" y="392430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observe 审阅，decide 控制继续或退出</a:t>
            </a:r>
            <a:endParaRPr sz="1425" b="0">
              <a:solidFill>
                <a:srgbClr val="111111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42950" y="4667250"/>
            <a:ext cx="476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这里的重点不是股票分析本身，而是 runtime 通过 DSL 执行多轮推理，主 agent 监控产物和退出条件。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191250" y="2000250"/>
            <a:ext cx="5095875" cy="371475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362700" y="2152650"/>
            <a:ext cx="4752975" cy="3409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CONTEXT_SET stock_1_inputs {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workspace file "data/stock_1.json";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workspace file "data/top_decliners.md";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}</a:t>
            </a:r>
            <a:endParaRPr sz="1050">
              <a:solidFill>
                <a:srgbClr val="FFFFFF"/>
              </a:solidFill>
            </a:endParaRPr>
          </a:p>
          <a:p>
            <a:endParaRPr sz="1050"/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REACT analyze_stock_1 MAX 3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SPEC "02_reason/agents/stock_analysis_spec.md"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REASON CODEX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PROMPT "02_reason/agents/prompt.md"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CONTEXT stock_1_inputs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RESULT state.analysis.stock_1.reason_result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ACT CODEX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PROMPT "03_act/agents/prompt.md"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CONTEXT workspace dir "reports/stock_1"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RESULT state.analysis.stock_1.act_result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OBSERVE CODEX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PROMPT "04_observe/agents/prompt.md"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CONTEXT workspace dir "reports/stock_1"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RESULT state.analysis.stock_1.review_result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DECIDE PY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SCRIPT "05_decide/scripts/decide.py"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RESULT state.analysis.stock_1.decide_result</a:t>
            </a:r>
            <a:endParaRPr sz="1050">
              <a:solidFill>
                <a:srgbClr val="FFFFFF"/>
              </a:solidFill>
            </a:endParaRP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    UPDATES_STATE;</a:t>
            </a:r>
            <a:endParaRPr sz="1050">
              <a:solidFill>
                <a:srgbClr val="FFFFFF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08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Agent loop 示例：主 agent 监控完整工程闭环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AGENT_LOOP 节点把诊断、计划、执行、观察、验证和决策拆成独立 slot。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66750" y="20574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什么时候用</a:t>
            </a:r>
            <a:endParaRPr sz="2025" b="1">
              <a:solidFill>
                <a:srgbClr val="FF6B35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81050" y="26289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09650" y="257175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同一个节点需要完整的工程闭环</a:t>
            </a:r>
            <a:endParaRPr sz="1500" b="0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30289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09650" y="297180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diagnose 和 plan 要显式拆开</a:t>
            </a:r>
            <a:endParaRPr sz="1500" b="0">
              <a:solidFill>
                <a:srgbClr val="111111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34290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09650" y="337185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verify 是独立 slot，不只靠 observe 判断</a:t>
            </a:r>
            <a:endParaRPr sz="1500" b="0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81050" y="38290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009650" y="3771900"/>
            <a:ext cx="424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loop 需要 artifact、status、report 和人工等待</a:t>
            </a:r>
            <a:endParaRPr sz="1500" b="0">
              <a:solidFill>
                <a:srgbClr val="111111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42950" y="4667250"/>
            <a:ext cx="476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DSL 让诊断、计划、执行、观察、验证和决策都有状态；主 agent 能监控进展并处理等待点。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191250" y="1790700"/>
            <a:ext cx="5095875" cy="4333875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362700" y="1943100"/>
            <a:ext cx="4752975" cy="402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AGENT_LOOP analyze_stock_1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MAX_ITERATIONS 2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ARTIFACTS ".lgwf/loops/analyze_stock_1"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STATUS state.agent_loop.analyze_stock_1.status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REPORT state.agent_loop.analyze_stock_1.report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ON_MAX wait_human ON_ERROR wait_human {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DIAGNOSE CODEX diagnose_stock_1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PROMPT_REF "02_reason/agents/prompt.md"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RESULT state.agent_loop.analyze_stock_1.current.diagnosis;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PLAN CODEX plan_stock_1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PROMPT_REF "02_reason/agents/prompt.md"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RESULT state.agent_loop.analyze_stock_1.current.plan;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ACT CODEX act_stock_1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PROMPT_REF "03_act/agents/prompt.md"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RESULT state.agent_loop.analyze_stock_1.current.action;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OBSERVE CODEX observe_stock_1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PROMPT_REF "04_observe/agents/prompt.md"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RESULT state.agent_loop.analyze_stock_1.current.observation;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VERIFY PY verify_stock_1_loop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SCRIPT "06_verify/scripts/agent_loop_verify.py"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RESULT state.agent_loop.analyze_stock_1.current.verification;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DECIDE PY decide_stock_1_loop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SCRIPT "05_decide/scripts/agent_loop_decide.py"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  RESULT state.agent_loop.analyze_stock_1.current.decision;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};</a:t>
            </a:r>
            <a:endParaRPr sz="940">
              <a:solidFill>
                <a:srgbClr val="FFFFFF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09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DSL 让自动串联和人工交接都可被主 agent 监控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RUN_WORKFLOW 让 runtime 自动推进稳定流程，HANDOFF 把需要判断的下一步交回主 agent 或用户。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943100"/>
            <a:ext cx="5143500" cy="37147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914400" y="22288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RUN_WORKFLOW</a:t>
            </a:r>
            <a:endParaRPr sz="2250" b="1">
              <a:solidFill>
                <a:srgbClr val="FF6B35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2724150"/>
            <a:ext cx="428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用于自动调用独立 child workflow；父 workflow 准备输入、等待完成并消费结果。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3429000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适合：上下游都是稳定 workflow，当前流程可以直接继续执行。</a:t>
            </a:r>
            <a:endParaRPr sz="1500" b="0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14400" y="4095750"/>
            <a:ext cx="4286250" cy="118110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85850" y="4248150"/>
            <a:ext cx="39433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RUN_WORKFLOW wf_create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WORKFLOW "workflows/wf-create/wf/workflow.lgwf"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WORK_DIR "workflows/wf-create/ws"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INPUT state.convert.create_input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RESULT state.convert.create_result;</a:t>
            </a:r>
            <a:endParaRPr sz="940">
              <a:solidFill>
                <a:srgbClr val="FFFFFF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400800" y="1943100"/>
            <a:ext cx="5143500" cy="37147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00800" y="1943100"/>
            <a:ext cx="5143500" cy="3714750"/>
          </a:xfrm>
          <a:prstGeom prst="rect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67500" y="22288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HANDOFF</a:t>
            </a:r>
            <a:endParaRPr sz="2250" b="1">
              <a:solidFill>
                <a:srgbClr val="111111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667500" y="2724150"/>
            <a:ext cx="428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用于把上下文和建议动作交给主 agent 或用户；它暴露 pending action，不自动继续跑。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667500" y="3429000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适合：下游动作需要用户确认，或只是建议进入下一条 workflow。</a:t>
            </a:r>
            <a:endParaRPr sz="1500" b="0">
              <a:solidFill>
                <a:srgbClr val="111111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0" y="4095750"/>
            <a:ext cx="4286250" cy="118110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38950" y="4248150"/>
            <a:ext cx="39433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HANDOFF handoff_wf_post_fix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CONTEXT state.create.post_fix_payload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PROMPT "handoff_wf_post_fix.md"</a:t>
            </a:r>
            <a:endParaRPr sz="940">
              <a:solidFill>
                <a:srgbClr val="FFFFFF"/>
              </a:solidFill>
            </a:endParaRPr>
          </a:p>
          <a:p>
            <a:pPr>
              <a:defRPr sz="940">
                <a:solidFill>
                  <a:srgbClr val="FFFFFF"/>
                </a:solidFill>
              </a:defRPr>
            </a:pPr>
            <a:r>
              <a:rPr sz="940">
                <a:solidFill>
                  <a:srgbClr val="FFFFFF"/>
                </a:solidFill>
              </a:rPr>
              <a:t>  RESULT state.create.post_fix_handoff;</a:t>
            </a:r>
            <a:endParaRPr sz="940">
              <a:solidFill>
                <a:srgbClr val="FFFFFF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10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40005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用户说目标，主 agent 用 DSL 落到可执行 workflow</a:t>
            </a:r>
            <a:endParaRPr sz="300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990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用户不需要掌握 runtime 细节；主 agent 会编排、启动、监控并交付可检查结果。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14478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43000" y="2066925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暴露能力</a:t>
            </a:r>
            <a:endParaRPr sz="1875" b="1">
              <a:solidFill>
                <a:srgbClr val="FF6B35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952750" y="1952625"/>
            <a:ext cx="7524750" cy="5524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38500" y="2085975"/>
            <a:ext cx="695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我想把这个目标编排成 workflow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43000" y="2790825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编排意图</a:t>
            </a:r>
            <a:endParaRPr sz="1875" b="1">
              <a:solidFill>
                <a:srgbClr val="FF6B35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952750" y="2676525"/>
            <a:ext cx="7524750" cy="5524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952750" y="2676525"/>
            <a:ext cx="7524750" cy="552450"/>
          </a:xfrm>
          <a:prstGeom prst="rect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238500" y="2809875"/>
            <a:ext cx="695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这个 workflow 失败了，帮我定位并修复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43000" y="3514725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串联</a:t>
            </a:r>
            <a:endParaRPr sz="1875" b="1">
              <a:solidFill>
                <a:srgbClr val="FF6B35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952750" y="3400425"/>
            <a:ext cx="7524750" cy="5524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238500" y="3533775"/>
            <a:ext cx="695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修完后帮我生成 E2E 测试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143000" y="4238625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后处理</a:t>
            </a:r>
            <a:endParaRPr sz="1875" b="1">
              <a:solidFill>
                <a:srgbClr val="FF6B35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952750" y="4124325"/>
            <a:ext cx="7524750" cy="5524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952750" y="4124325"/>
            <a:ext cx="7524750" cy="552450"/>
          </a:xfrm>
          <a:prstGeom prst="rect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p/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238500" y="4257675"/>
            <a:ext cx="695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帮我做一次 post-fix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143000" y="4962525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持续复用</a:t>
            </a:r>
            <a:endParaRPr sz="1875" b="1">
              <a:solidFill>
                <a:srgbClr val="FF6B3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952750" y="4848225"/>
            <a:ext cx="7524750" cy="5524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3238500" y="4981575"/>
            <a:ext cx="695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把这次经验沉淀成 proposal</a:t>
            </a:r>
            <a:endParaRPr sz="1800" b="0">
              <a:solidFill>
                <a:srgbClr val="111111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11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33400" y="685800"/>
            <a:ext cx="3810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下一步</a:t>
            </a:r>
            <a:endParaRPr sz="40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33400" y="1504950"/>
            <a:ext cx="704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先初始化入口，再让主 agent 通过 DSL 编排和监控 workflow。</a:t>
            </a:r>
            <a:endParaRPr sz="1950" b="0">
              <a:solidFill>
                <a:srgbClr val="555555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914400" y="2857500"/>
            <a:ext cx="4476750" cy="83820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200150" y="310515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/lgwf-wf-tools init</a:t>
            </a:r>
            <a:endParaRPr sz="2025" b="1">
              <a:solidFill>
                <a:srgbClr val="FFFFFF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191250" y="2552700"/>
            <a:ext cx="4476750" cy="2272665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34150" y="28765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使用边界</a:t>
            </a:r>
            <a:endParaRPr sz="2250" b="1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629400" y="35052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0" y="34480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不需要手动接触底层 runtime 命令</a:t>
            </a:r>
            <a:endParaRPr sz="1575" b="0">
              <a:solidFill>
                <a:srgbClr val="111111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629400" y="38671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858000" y="38100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不需要先理解 DSL 和目录细节</a:t>
            </a:r>
            <a:endParaRPr sz="1575" b="0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629400" y="42291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58000" y="41719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需要维护时再进入 workflow.lgwf、README、AGENTS、docs、tests</a:t>
            </a:r>
            <a:endParaRPr sz="1575" b="0">
              <a:solidFill>
                <a:srgbClr val="111111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" y="5476875"/>
            <a:ext cx="8763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记住一句话：runtime 通过 DSL 暴露能力，主 agent 通过 DSL 编排并监控 workflow。</a:t>
            </a:r>
            <a:endParaRPr sz="2325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334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LGWF DSL 工作流引擎</a:t>
            </a:r>
            <a:endParaRPr sz="975" b="0">
              <a:solidFill>
                <a:srgbClr val="555555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1144250" y="641985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12</a:t>
            </a:r>
            <a:endParaRPr sz="975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2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3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4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5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6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7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8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9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0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1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2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3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4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5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6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7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8.xml><?xml version="1.0" encoding="utf-8"?>
<p:tagLst xmlns:p="http://schemas.openxmlformats.org/presentationml/2006/main">
  <p:tag name="KSO_WM_DIAGRAM_VIRTUALLY_FRAME" val="{&quot;height&quot;:281.9,&quot;left&quot;:42,&quot;top&quot;:159,&quot;width&quot;:840}"/>
</p:tagLst>
</file>

<file path=ppt/tags/tag19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0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1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2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3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4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5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6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7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ags/tag28.xml><?xml version="1.0" encoding="utf-8"?>
<p:tagLst xmlns:p="http://schemas.openxmlformats.org/presentationml/2006/main">
  <p:tag name="KSO_WM_DIAGRAM_VIRTUALLY_FRAME" val="{&quot;height&quot;:247.5,&quot;left&quot;:348,&quot;top&quot;:165,&quot;width&quot;:55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4490</Words>
  <Application>WPS 演示</Application>
  <PresentationFormat>Converted Presentation</PresentationFormat>
  <Paragraphs>354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Arial</vt:lpstr>
      <vt:lpstr>宋体</vt:lpstr>
      <vt:lpstr>Wingdings</vt:lpstr>
      <vt:lpstr>Calibri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WPS_1638424914</cp:lastModifiedBy>
  <cp:revision>3</cp:revision>
  <dcterms:created xsi:type="dcterms:W3CDTF">2026-07-06T02:06:00Z</dcterms:created>
  <dcterms:modified xsi:type="dcterms:W3CDTF">2026-07-06T02:09:32Z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00A2310370894BB59B72A8C5368B080C_12</vt:lpwstr>
  </property>
  <property fmtid="{D5CDD505-2E9C-101B-9397-08002B2CF9AE}" pid="3" name="KSOProductBuildVer">
    <vt:lpwstr>2052-12.1.0.26895</vt:lpwstr>
  </property>
</Properties>
</file>