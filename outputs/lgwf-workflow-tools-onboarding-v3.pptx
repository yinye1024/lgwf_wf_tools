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e182785e27147d1" /><Relationship Type="http://schemas.openxmlformats.org/officeDocument/2006/relationships/extended-properties" Target="/docProps/app.xml" Id="R7e8255dbe94d4bfa" /><Relationship Type="http://schemas.openxmlformats.org/officeDocument/2006/relationships/officeDocument" Target="/ppt/presentation.xml" Id="Rb46f4d54230e405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7c275588eb4402d"/>
  </p:sldMasterIdLst>
  <p:notesMasterIdLst>
    <p:notesMasterId xmlns:r="http://schemas.openxmlformats.org/officeDocument/2006/relationships" r:id="Raff778c7604441dc"/>
  </p:notesMasterIdLst>
  <p:sldIdLst>
    <p:sldId xmlns:r="http://schemas.openxmlformats.org/officeDocument/2006/relationships" id="256" r:id="Rd0acadcd651e4f36"/>
    <p:sldId xmlns:r="http://schemas.openxmlformats.org/officeDocument/2006/relationships" id="257" r:id="Rf02a5b9dd6af4596"/>
    <p:sldId xmlns:r="http://schemas.openxmlformats.org/officeDocument/2006/relationships" id="258" r:id="Ra0df9486547447a5"/>
    <p:sldId xmlns:r="http://schemas.openxmlformats.org/officeDocument/2006/relationships" id="259" r:id="Ra690761cee784859"/>
    <p:sldId xmlns:r="http://schemas.openxmlformats.org/officeDocument/2006/relationships" id="260" r:id="Rd7f616b75e864b02"/>
    <p:sldId xmlns:r="http://schemas.openxmlformats.org/officeDocument/2006/relationships" id="261" r:id="R5bcfb229c97746c1"/>
    <p:sldId xmlns:r="http://schemas.openxmlformats.org/officeDocument/2006/relationships" id="262" r:id="R47427ccb870e4265"/>
    <p:sldId xmlns:r="http://schemas.openxmlformats.org/officeDocument/2006/relationships" id="263" r:id="R83e50a3412e64299"/>
    <p:sldId xmlns:r="http://schemas.openxmlformats.org/officeDocument/2006/relationships" id="264" r:id="Re612cacb38824001"/>
    <p:sldId xmlns:r="http://schemas.openxmlformats.org/officeDocument/2006/relationships" id="265" r:id="Ra99664a5376c4a99"/>
    <p:sldId xmlns:r="http://schemas.openxmlformats.org/officeDocument/2006/relationships" id="266" r:id="Ra3cd29b8aaf14895"/>
    <p:sldId xmlns:r="http://schemas.openxmlformats.org/officeDocument/2006/relationships" id="267" r:id="Rfd4dd4ad9e994b3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c23d2a0f29c4084" /><Relationship Type="http://schemas.openxmlformats.org/officeDocument/2006/relationships/slideMaster" Target="/ppt/slideMasters/slideMaster1.xml" Id="Ra7c275588eb4402d" /><Relationship Type="http://schemas.openxmlformats.org/officeDocument/2006/relationships/notesMaster" Target="/ppt/notesMasters/notesMaster1.xml" Id="Raff778c7604441dc" /><Relationship Type="http://schemas.openxmlformats.org/officeDocument/2006/relationships/presProps" Target="/ppt/presProps.xml" Id="R68f80d9ee54c4256" /><Relationship Type="http://schemas.openxmlformats.org/officeDocument/2006/relationships/tableStyles" Target="/ppt/tableStyles.xml" Id="R52cc0d8962574816" /><Relationship Type="http://schemas.openxmlformats.org/officeDocument/2006/relationships/slide" Target="/ppt/slides/slide1.xml" Id="Rd0acadcd651e4f36" /><Relationship Type="http://schemas.openxmlformats.org/officeDocument/2006/relationships/slide" Target="/ppt/slides/slide2.xml" Id="Rf02a5b9dd6af4596" /><Relationship Type="http://schemas.openxmlformats.org/officeDocument/2006/relationships/slide" Target="/ppt/slides/slide3.xml" Id="Ra0df9486547447a5" /><Relationship Type="http://schemas.openxmlformats.org/officeDocument/2006/relationships/slide" Target="/ppt/slides/slide4.xml" Id="Ra690761cee784859" /><Relationship Type="http://schemas.openxmlformats.org/officeDocument/2006/relationships/slide" Target="/ppt/slides/slide5.xml" Id="Rd7f616b75e864b02" /><Relationship Type="http://schemas.openxmlformats.org/officeDocument/2006/relationships/slide" Target="/ppt/slides/slide6.xml" Id="R5bcfb229c97746c1" /><Relationship Type="http://schemas.openxmlformats.org/officeDocument/2006/relationships/slide" Target="/ppt/slides/slide7.xml" Id="R47427ccb870e4265" /><Relationship Type="http://schemas.openxmlformats.org/officeDocument/2006/relationships/slide" Target="/ppt/slides/slide8.xml" Id="R83e50a3412e64299" /><Relationship Type="http://schemas.openxmlformats.org/officeDocument/2006/relationships/slide" Target="/ppt/slides/slide9.xml" Id="Re612cacb38824001" /><Relationship Type="http://schemas.openxmlformats.org/officeDocument/2006/relationships/slide" Target="/ppt/slides/slide10.xml" Id="Ra99664a5376c4a99" /><Relationship Type="http://schemas.openxmlformats.org/officeDocument/2006/relationships/slide" Target="/ppt/slides/slide11.xml" Id="Ra3cd29b8aaf14895" /><Relationship Type="http://schemas.openxmlformats.org/officeDocument/2006/relationships/slide" Target="/ppt/slides/slide12.xml" Id="Rfd4dd4ad9e994b3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9870389f03f42f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c70add9506a43bd" /><Relationship Type="http://schemas.openxmlformats.org/officeDocument/2006/relationships/notesMaster" Target="/ppt/notesMasters/notesMaster1.xml" Id="R6ad9f76e31904fc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26eb9ac2da44b93" /><Relationship Type="http://schemas.openxmlformats.org/officeDocument/2006/relationships/notesMaster" Target="/ppt/notesMasters/notesMaster1.xml" Id="Rff425118ef5f454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c6119dda5ea4d4c" /><Relationship Type="http://schemas.openxmlformats.org/officeDocument/2006/relationships/notesMaster" Target="/ppt/notesMasters/notesMaster1.xml" Id="Rb88d1cdc2f83428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3934bce20e44ebd" /><Relationship Type="http://schemas.openxmlformats.org/officeDocument/2006/relationships/notesMaster" Target="/ppt/notesMasters/notesMaster1.xml" Id="R9c590daec6e341a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dd5db7a7a6844c3" /><Relationship Type="http://schemas.openxmlformats.org/officeDocument/2006/relationships/notesMaster" Target="/ppt/notesMasters/notesMaster1.xml" Id="R68ab356cb55048d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237953efc4d455d" /><Relationship Type="http://schemas.openxmlformats.org/officeDocument/2006/relationships/notesMaster" Target="/ppt/notesMasters/notesMaster1.xml" Id="Rd4905c7da384424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1b5ee25119c4a62" /><Relationship Type="http://schemas.openxmlformats.org/officeDocument/2006/relationships/notesMaster" Target="/ppt/notesMasters/notesMaster1.xml" Id="R79b86dec550a475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fdd7285c32c47af" /><Relationship Type="http://schemas.openxmlformats.org/officeDocument/2006/relationships/notesMaster" Target="/ppt/notesMasters/notesMaster1.xml" Id="R5180ca6a541348f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05174b1a0714319" /><Relationship Type="http://schemas.openxmlformats.org/officeDocument/2006/relationships/notesMaster" Target="/ppt/notesMasters/notesMaster1.xml" Id="Raca4b3b719a440f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e19225c150141b6" /><Relationship Type="http://schemas.openxmlformats.org/officeDocument/2006/relationships/notesMaster" Target="/ppt/notesMasters/notesMaster1.xml" Id="Ra0a3faadc1d5462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8892a9745fc4f8e" /><Relationship Type="http://schemas.openxmlformats.org/officeDocument/2006/relationships/notesMaster" Target="/ppt/notesMasters/notesMaster1.xml" Id="R1c51341f8eac44d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fa854d5508f4af9" /><Relationship Type="http://schemas.openxmlformats.org/officeDocument/2006/relationships/notesMaster" Target="/ppt/notesMasters/notesMaster1.xml" Id="Ree19a8496e4942b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cc7c3775024ea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67f9231ed0c48a6" /><Relationship Type="http://schemas.openxmlformats.org/officeDocument/2006/relationships/slideLayout" Target="/ppt/slideLayouts/slideLayout1.xml" Id="R9dc5657ca504490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dc5657ca504490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8abee7ba6b4997" /><Relationship Type="http://schemas.openxmlformats.org/officeDocument/2006/relationships/notesSlide" Target="/ppt/notesSlides/notesSlide1.xml" Id="R2b0193b304f04ca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b186d7d21b4eca" /><Relationship Type="http://schemas.openxmlformats.org/officeDocument/2006/relationships/notesSlide" Target="/ppt/notesSlides/notesSlide2.xml" Id="R9f4887d938b94f3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b0641adbf84ca0" /><Relationship Type="http://schemas.openxmlformats.org/officeDocument/2006/relationships/notesSlide" Target="/ppt/notesSlides/notesSlide3.xml" Id="R2a4a7fdb33ef414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f114af018a4992" /><Relationship Type="http://schemas.openxmlformats.org/officeDocument/2006/relationships/notesSlide" Target="/ppt/notesSlides/notesSlide4.xml" Id="R79c839271c9342a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bcf0b1abcf4e22" /><Relationship Type="http://schemas.openxmlformats.org/officeDocument/2006/relationships/notesSlide" Target="/ppt/notesSlides/notesSlide5.xml" Id="R687ad2f3fa974dd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bc40fbbd9940ea" /><Relationship Type="http://schemas.openxmlformats.org/officeDocument/2006/relationships/notesSlide" Target="/ppt/notesSlides/notesSlide6.xml" Id="Rf09a529cf28543b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909135d1ee4bc7" /><Relationship Type="http://schemas.openxmlformats.org/officeDocument/2006/relationships/notesSlide" Target="/ppt/notesSlides/notesSlide7.xml" Id="R780cd00f661a4e8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5a857bfa394ace" /><Relationship Type="http://schemas.openxmlformats.org/officeDocument/2006/relationships/notesSlide" Target="/ppt/notesSlides/notesSlide8.xml" Id="R962eb2c569af479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f66ed311e14447" /><Relationship Type="http://schemas.openxmlformats.org/officeDocument/2006/relationships/notesSlide" Target="/ppt/notesSlides/notesSlide9.xml" Id="R74be7e0493c3415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57c313c8464075" /><Relationship Type="http://schemas.openxmlformats.org/officeDocument/2006/relationships/notesSlide" Target="/ppt/notesSlides/notesSlide10.xml" Id="R38ef45eb359e40a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a69fc4141342df" /><Relationship Type="http://schemas.openxmlformats.org/officeDocument/2006/relationships/notesSlide" Target="/ppt/notesSlides/notesSlide11.xml" Id="R3ea3d6fa9d034f7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f7c2e5beca481a" /><Relationship Type="http://schemas.openxmlformats.org/officeDocument/2006/relationships/notesSlide" Target="/ppt/notesSlides/notesSlide12.xml" Id="R1a4edcb1617244d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2D89B91-CC36-46DD-8719-7AB2B15B5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7239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111111"/>
                </a:solidFill>
              </a:defRPr>
            </a:pPr>
            <a:r>
              <a:rPr sz="5100" b="1">
                <a:solidFill>
                  <a:srgbClr val="111111"/>
                </a:solidFill>
              </a:rPr>
              <a:t>LGWF Workflow</a:t>
            </a:r>
          </a:p>
          <a:p xmlns:a="http://schemas.openxmlformats.org/drawingml/2006/main">
            <a:pPr algn="l">
              <a:defRPr sz="5100" b="1">
                <a:solidFill>
                  <a:srgbClr val="111111"/>
                </a:solidFill>
              </a:defRPr>
            </a:pPr>
            <a:r>
              <a:rPr sz="5100" b="1">
                <a:solidFill>
                  <a:srgbClr val="111111"/>
                </a:solidFill>
              </a:rPr>
              <a:t>工具入口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D084B4-51B3-4B13-8A9A-3B649226C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0"/>
            <a:ext cx="666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55555"/>
                </a:solidFill>
              </a:defRPr>
            </a:pPr>
            <a:r>
              <a:rPr sz="1950" b="0">
                <a:solidFill>
                  <a:srgbClr val="555555"/>
                </a:solidFill>
              </a:rPr>
              <a:t>用 Codex 发起、串联和维护 workflow 任务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7629CA-454F-4383-A3BF-392A9DC90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0AF3DD-6FEC-4CBB-848C-5724E19E0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1430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一个入口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F77817-853F-4396-8CFD-69F876A6E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52625"/>
            <a:ext cx="2476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11111"/>
                </a:solidFill>
              </a:defRPr>
            </a:pPr>
            <a:r>
              <a:rPr sz="2400" b="0">
                <a:solidFill>
                  <a:srgbClr val="111111"/>
                </a:solidFill>
              </a:rPr>
              <a:t>描述目标</a:t>
            </a:r>
          </a:p>
          <a:p xmlns:a="http://schemas.openxmlformats.org/drawingml/2006/main">
            <a:pPr algn="l">
              <a:defRPr sz="2400" b="0">
                <a:solidFill>
                  <a:srgbClr val="111111"/>
                </a:solidFill>
              </a:defRPr>
            </a:pPr>
            <a:r>
              <a:rPr sz="2400" b="0">
                <a:solidFill>
                  <a:srgbClr val="111111"/>
                </a:solidFill>
              </a:rPr>
              <a:t>确认范围</a:t>
            </a:r>
          </a:p>
          <a:p xmlns:a="http://schemas.openxmlformats.org/drawingml/2006/main">
            <a:pPr algn="l">
              <a:defRPr sz="2400" b="0">
                <a:solidFill>
                  <a:srgbClr val="111111"/>
                </a:solidFill>
              </a:defRPr>
            </a:pPr>
            <a:r>
              <a:rPr sz="2400" b="0">
                <a:solidFill>
                  <a:srgbClr val="111111"/>
                </a:solidFill>
              </a:rPr>
              <a:t>查看结果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56DA78-3B3D-40B2-9E99-44F93656D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7625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6B35"/>
                </a:solidFill>
              </a:defRPr>
            </a:pPr>
            <a:r>
              <a:rPr sz="1800" b="1">
                <a:solidFill>
                  <a:srgbClr val="FF6B35"/>
                </a:solidFill>
              </a:rPr>
              <a:t>/lgwf-wf-tools init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E5F44E-720C-4796-9941-3173907C9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LGWF Workflow 工具入口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DE2BC2-2774-45FF-9948-CDF4CCC6E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5693185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DD25AD5-A96C-464B-9161-63C8BAA7D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这套工具把 workflow 任务收进一个入口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644391-E1E5-4C70-8B45-93D477C1D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用户不需要先理解内部结构，只需要说明要完成的工作。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EFBCE4-9BA3-44EB-9FCA-085293D44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DFC9EA-8277-4BA6-9C32-448D38904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19300"/>
            <a:ext cx="3238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DE7570-A809-47EB-9C6D-C5383ADA3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2781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创建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9388F9-24E1-47FF-9FD2-EBA66003E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81350"/>
            <a:ext cx="2781300" cy="-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从目标描述生成新的 workflow 初稿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882947-A993-4396-AF7F-30B284B06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19300"/>
            <a:ext cx="3238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A9A92C-2491-42C5-B701-2F2EA935D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71750"/>
            <a:ext cx="2781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修复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0C05C9-CCA5-4074-A4D9-45D8A9F8C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81350"/>
            <a:ext cx="2781300" cy="-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定位失败并推进修复与验证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8EC02F-F7A1-411C-BAA2-BF3B2391C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019300"/>
            <a:ext cx="3238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B51336-9727-49CE-845C-80C49A659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71750"/>
            <a:ext cx="2781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运行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039B05-F201-4019-B4A6-910F72E05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81350"/>
            <a:ext cx="2781300" cy="-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启动已有 workflow 并跟进结果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920A68-9AAB-4EF3-926D-F413C61BA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38550"/>
            <a:ext cx="3238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A04D9B-8F1F-40A6-9BC2-88A383C14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0"/>
            <a:ext cx="2781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测试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650C4C-FBFA-4523-ABA9-F20B5676C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00600"/>
            <a:ext cx="2781300" cy="-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为 workflow 生成 E2E 测试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36E474-7E56-4630-BA8C-ADB9CC4B0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638550"/>
            <a:ext cx="3238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4FCAA6-4378-49F9-8374-9E0E17452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191000"/>
            <a:ext cx="2781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升级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F032A5-154C-4D0F-B4BE-84BE79EBE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00600"/>
            <a:ext cx="2781300" cy="-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处理 prompt 修复和后续升级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E734B7-04EA-4114-9D60-C82430FC5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638550"/>
            <a:ext cx="3238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DB2D3E-5A5A-4068-8FFE-59DCDCE84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191000"/>
            <a:ext cx="2781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自优化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2BB248-B675-43AC-955B-70447B325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800600"/>
            <a:ext cx="2781300" cy="-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沉淀问题、生成 proposal、做检查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84E0FB-5E76-4D08-841C-11DCE6F78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LGWF Workflow 工具入口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1EA4CB-8B8B-4D7E-9923-183AAD17C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487235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8196495-9933-4961-B6B7-F6C00221D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用户只需要记住 lgwf-wf-tools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949F38-037F-412F-8023-E85560D60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它是发起 LGWF workflow 任务的常用入口。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D24585-62BE-4417-AABF-284776F7C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3FB0BE-ECAC-49E7-BA50-52ED612C6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8125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你描述目标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191069-9B60-4785-9CF9-24782EE7D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342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55555"/>
                </a:solidFill>
              </a:defRPr>
            </a:pPr>
            <a:r>
              <a:rPr sz="1725" b="0">
                <a:solidFill>
                  <a:srgbClr val="555555"/>
                </a:solidFill>
              </a:rPr>
              <a:t>例如创建、修复、运行、生成测试或做发布前检查。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0E05FA-1920-4C43-A17D-29927EF4A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86100"/>
            <a:ext cx="10668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95D6AF-36D9-4779-95D3-8638DE229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00250"/>
            <a:ext cx="2857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1EB38F-5006-498D-A752-A5D611B63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5270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6B35"/>
                </a:solidFill>
              </a:defRPr>
            </a:pPr>
            <a:r>
              <a:rPr sz="2400" b="1">
                <a:solidFill>
                  <a:srgbClr val="FF6B35"/>
                </a:solidFill>
              </a:rPr>
              <a:t>lgwf-wf-tools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A9A2B4-D324-49E0-AECB-A4B6BDCCB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62300"/>
            <a:ext cx="2095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选择合适流程</a:t>
            </a:r>
          </a:p>
          <a:p xmlns:a="http://schemas.openxmlformats.org/drawingml/2006/main">
            <a:pPr algn="ctr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请求必要确认</a:t>
            </a:r>
          </a:p>
          <a:p xmlns:a="http://schemas.openxmlformats.org/drawingml/2006/main">
            <a:pPr algn="ctr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交付可检查结果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F319A8-7900-4193-A0F9-9EBA46F88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86100"/>
            <a:ext cx="10668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4DECD0-26B5-4995-82A1-741008CFA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8125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你确认和验收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E555CF-B637-42A9-8364-1528E302B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009900"/>
            <a:ext cx="219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55555"/>
                </a:solidFill>
              </a:defRPr>
            </a:pPr>
            <a:r>
              <a:rPr sz="1725" b="0">
                <a:solidFill>
                  <a:srgbClr val="555555"/>
                </a:solidFill>
              </a:rPr>
              <a:t>工具执行过程中保留确认点，结果可继续修订。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CFF789-BE66-4BF0-9B92-0E51EA81E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LGWF Workflow 工具入口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0B017E-97E8-4FE4-8F27-241C8D58F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84958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F9E1569-28C6-4210-83B6-F3843334E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第一次使用只需要三步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24265B-B4DA-4248-9657-8CFB1E4A2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初始化完成后，就可以用命令或自然语言发起任务。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A1D557-DFBD-4CDB-BAEA-9380415C8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8AE668-2BB2-4C7A-A70E-C8CAA7545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76450"/>
            <a:ext cx="95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6B35"/>
                </a:solidFill>
              </a:defRPr>
            </a:pPr>
            <a:r>
              <a:rPr sz="4350" b="1">
                <a:solidFill>
                  <a:srgbClr val="FF6B35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6EAC12-F863-40DE-A5C9-4405D22EB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安装 skill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1C7302-6EDC-402F-A177-376E09525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24250"/>
            <a:ext cx="266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把 lgwf-wf-tools 安装为 Codex skill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E577FA-B392-44B1-A7E4-5A88929C8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143250"/>
            <a:ext cx="5715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55B3C4-7B04-45E0-A4F1-95927C0A4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76450"/>
            <a:ext cx="95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6B35"/>
                </a:solidFill>
              </a:defRPr>
            </a:pPr>
            <a:r>
              <a:rPr sz="4350" b="1">
                <a:solidFill>
                  <a:srgbClr val="FF6B35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2847AE-FADF-409C-9008-5446AC31E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52750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打开新 thread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1675CC-612F-49B3-8B68-0ADFFEF81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524250"/>
            <a:ext cx="266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让 Codex 重新加载可用 skill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A46BA8-DE62-4A0C-84C0-8AF249609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143250"/>
            <a:ext cx="5715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78094B-ADEF-466A-8556-E9A48E62B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76450"/>
            <a:ext cx="95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6B35"/>
                </a:solidFill>
              </a:defRPr>
            </a:pPr>
            <a:r>
              <a:rPr sz="4350" b="1">
                <a:solidFill>
                  <a:srgbClr val="FF6B35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FB208A-0AFF-4818-A043-731BBC607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952750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执行初始化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2F0B3E-1233-41F4-9347-1607C6679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24250"/>
            <a:ext cx="266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输入 /lgwf-wf-tools init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7CB646-1FFD-4A7E-A9B5-316F15E94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143500"/>
            <a:ext cx="9144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F17D6C-0EB7-4000-90CB-0CC4130B6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578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/lgwf-wf-tools init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3C421F-6EFD-4AD3-AED3-51A1942C9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LGWF Workflow 工具入口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C1A717-DCA3-42F4-BC14-03C1EB957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073434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A1D8DA8-8DBA-4450-A191-AA47F432F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日常任务可以用命令，也可以直接说目标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4C86C3-4E44-406C-8940-F665320F7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命令适合明确动作，自然语言适合描述业务意图。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BD0B54-11F0-431B-AF11-8B2158568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4599FB-AF0A-47A4-A4BB-AC81AF620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4953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E6DADB-649B-4142-A1BB-7E57C2A65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241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111"/>
                </a:solidFill>
              </a:defRPr>
            </a:pPr>
            <a:r>
              <a:rPr sz="2325" b="1">
                <a:solidFill>
                  <a:srgbClr val="111111"/>
                </a:solidFill>
              </a:rPr>
              <a:t>常用命令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6A4475-5A69-4EED-934A-B5B2F2C1C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09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7F269D-7A42-4934-9A65-454A22CB9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952750"/>
            <a:ext cx="3867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/lgwf-wf-tools help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244E7E-FE0F-4645-BF15-4BDEAF25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09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914FEF-E5BB-4332-8C0F-AD1AF0440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352800"/>
            <a:ext cx="3867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/lgwf-wf-tools doctor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7B1B7C-33FD-4435-AA87-087C696C5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10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57C411-BD1A-49FB-B7B2-188A8036D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752850"/>
            <a:ext cx="3867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/lgwf-wf-tools list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D868C9-E13F-4146-85B8-6169529E5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10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1F015C-D679-4A20-AED1-90C3FF37B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152900"/>
            <a:ext cx="3867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/lgwf-wf-tools run &lt;path&gt;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8E0D98-750B-490F-9E8C-1CAE9EF41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10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3A84C9-F9F3-4316-917D-2C5F1E11B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552950"/>
            <a:ext cx="3867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/lgwf-wf-tools self-improve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AF6858-681B-481F-9641-4AA81E63B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00250"/>
            <a:ext cx="4953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113552-3D56-42BB-A8BC-2C6FE856B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00250"/>
            <a:ext cx="4953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91BC5F-DDFB-41AE-A165-3F8E0BD2C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241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111"/>
                </a:solidFill>
              </a:defRPr>
            </a:pPr>
            <a:r>
              <a:rPr sz="2325" b="1">
                <a:solidFill>
                  <a:srgbClr val="111111"/>
                </a:solidFill>
              </a:rPr>
              <a:t>自然语言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E9C8FB-93A9-4F90-98D9-999F5CD07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86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AF5F3C-EEAF-4103-A8EA-E242C7059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28950"/>
            <a:ext cx="377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帮我创建一个新的 workflow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CA066D-33C3-42FA-8FE4-D87427E64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543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D5EC45-5806-4097-9987-160F6DAAD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486150"/>
            <a:ext cx="377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这个 workflow 跑失败了，帮我修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220EA5-8A62-40E7-92C7-B416DD056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0005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D5F31C-3C04-4586-A876-CBB3F0BAE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943350"/>
            <a:ext cx="377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修完后帮我生成 E2E 测试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A690F6-2F41-440D-A335-5DB8D1EA7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577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F64DB90-8315-4895-A112-D290CD94B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00550"/>
            <a:ext cx="377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帮我做一次发布前检查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421BEA-CFC5-4E65-B887-1E84DCDEF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LGWF Workflow 工具入口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D8E023-3A31-439A-86D9-9F1017CC1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3664635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F495A08-002A-4D12-87EF-CEE39B721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标准流程是目标、确认、执行和修订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5F28C5-3BC7-4270-9741-BE175982C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工具会把开放式请求收束成可确认、可交付的 workflow 任务。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4C3D7A-806A-415D-A2B7-053F74957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C02E1C-90FB-40D9-9D7D-957A321CF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13525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8F54AF-EC0E-4E84-B7B5-9DD0FC910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48000"/>
            <a:ext cx="1162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提出目标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9C97C7-8DE7-45ED-AAA7-E819A5BE4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190875"/>
            <a:ext cx="31432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64E602-98E0-46F9-9CA5-17EA072FD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2714625"/>
            <a:ext cx="13525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87C369-8393-40CD-92EC-EE0BE4C9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3048000"/>
            <a:ext cx="1162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识别任务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9218AF-6E34-42D6-9F5E-A4232281B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3190875"/>
            <a:ext cx="31432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9DA1F9-D41C-4398-85E6-AE19E3262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714625"/>
            <a:ext cx="13525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737E89-78DF-4C6B-B442-AA72B56E7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48000"/>
            <a:ext cx="1162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确认范围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2E7C70-AF6E-40A4-8E86-1E5D25074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190875"/>
            <a:ext cx="31432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E496BD-4DAE-45B2-8967-BC93DA1C8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714625"/>
            <a:ext cx="13525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6042B2-4840-4ED9-92AB-99407B695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048000"/>
            <a:ext cx="1162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执行 workflow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96AD39-8660-44D4-B2EC-C63668545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3190875"/>
            <a:ext cx="31432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B233E8-5180-4C08-80FC-DEE086460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714625"/>
            <a:ext cx="13525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0FE42E-FE19-46E9-BF7D-D4AEE7C20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048000"/>
            <a:ext cx="1162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查看结果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02C767-EEAB-4B10-951C-6C99D5797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190875"/>
            <a:ext cx="31432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A11F1D-B2B2-4C64-B78C-26429DD6F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2714625"/>
            <a:ext cx="13525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BBEF28-4C8C-4462-8FD7-DD51FCF08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3048000"/>
            <a:ext cx="1162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继续修订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B51A11-3C14-4623-8AD9-A17DB349E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767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555555"/>
                </a:solidFill>
              </a:defRPr>
            </a:pPr>
            <a:r>
              <a:rPr sz="1875" b="0">
                <a:solidFill>
                  <a:srgbClr val="555555"/>
                </a:solidFill>
              </a:rPr>
              <a:t>确认点是关键：用户保留对目标、范围和方案的控制，工具负责推进重复和复杂的执行环节。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5A6201-63A4-4977-8368-740BB02D1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LGWF Workflow 工具入口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0ADD99-7D45-4270-8CC9-733FFECF1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3582539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08F2E78-FFE2-47A3-B051-4C83C9C2E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先判断任务复杂度，再选择执行方式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451497-5868-4BC3-834A-0ACFFAA4D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CODEX、ReAct 和 Agent loop 的差异在于控制强度和可验证性。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AB3182-7593-4F65-9A41-75F7FB9B3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940B97-7D90-47C7-8151-AC7C474FB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3238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871691-9A80-41C5-B81B-3D93377C8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3238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DA0FEA-94C0-4103-A663-B1186C1ED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CODEX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AA5054-7CD9-427A-B03C-F053DF649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908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一次性执行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FC4551-564E-49AB-809C-5B17933D6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62350"/>
            <a:ext cx="266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适合：简单生成、摘要、改写、轻量分析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E88920-B3B9-4E72-9BF5-117042FA9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3865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选择信号：结果可直接人工看，或失败成本很低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331CE1-08BA-4B87-A315-3A08E6FFA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95500"/>
            <a:ext cx="3238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B27E67-6C01-4F75-8132-0BF76E60B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4003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ReAct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6866D2-D29A-434F-8922-6D10C0BBB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9908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按 spec 闭环执行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ED109E-F236-45A1-9316-67EB5DF7D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562350"/>
            <a:ext cx="266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适合：单个分析产物、规范化报告、结构化产物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A39177-817A-45EB-B724-8A97AD224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43865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选择信号：需要 reason、act、observe、decide 提升规范遵循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68404C-7BB8-4D62-8E3C-D9DA1AF6D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95500"/>
            <a:ext cx="3238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20579E-437A-4016-8176-B5BA82BDB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003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6B35"/>
                </a:solidFill>
              </a:defRPr>
            </a:pPr>
            <a:r>
              <a:rPr sz="2400" b="1">
                <a:solidFill>
                  <a:srgbClr val="FF6B35"/>
                </a:solidFill>
              </a:rPr>
              <a:t>Agent loop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D9CFB7-74CA-4F3A-8387-4785456DD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9908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节点内工程闭环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AE2BC4-F111-4C17-8F77-70B47D7F6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562350"/>
            <a:ext cx="266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适合：同一分析任务需要诊断、计划、执行、观察和验证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CD7BEB-AFA4-436C-B42D-F3EC7DCAF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43865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选择信号：需要 loop 状态、artifact、verify 和人工等待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9410B2-C847-48C1-AD75-A4ADA0DBA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LGWF Workflow 工具入口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B3FCD5-62F8-4645-B1BB-A58201C69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73960007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A33B88-B3E5-4069-AC30-0A223EFE8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ReAct 示例：按规范生成股票分析报告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C8DD7F-A401-44B2-91F5-BCD64C9D7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a_share_decliners_3d_react 在 stock_1 分析阶段使用 ReAct。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720A21-CC33-4146-83C0-E6E154223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85B48C-2A1F-40A0-8A4F-D2C79BD9A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574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6B35"/>
                </a:solidFill>
              </a:defRPr>
            </a:pPr>
            <a:r>
              <a:rPr sz="2025" b="1">
                <a:solidFill>
                  <a:srgbClr val="FF6B35"/>
                </a:solidFill>
              </a:rPr>
              <a:t>什么时候用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5F08ED-CA3B-491D-9A15-3FC73E0A0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28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A57F84-ADB7-465B-9CCB-1059C1D77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71750"/>
            <a:ext cx="424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同一个分析产物有明确输出规范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ADB83D-2B0B-434A-B1DC-4CF16DCD1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4547A3-15C8-4062-9FD8-BDB63B4AE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71800"/>
            <a:ext cx="424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reason 先形成分析策略和关注点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C772D5-ADE0-46CC-A902-942FB6A01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AD8B18-DA8E-423E-97E9-58D245E15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71850"/>
            <a:ext cx="424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act 生成或修订 analysis.md 等产物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046D95-5299-4369-A893-0084D81B1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29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CC26AE-69E4-4E57-B39C-95162D0CE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71900"/>
            <a:ext cx="424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observe 审阅产物，decide 控制继续或退出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BD9BAC-819C-40B2-9ECB-6EB200F9D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67250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这个例子里，ReAct 的目标不是诊断系统故障，而是让 Codex 围绕股票分析规范反复生成、审阅和修订报告。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5A2A7B-362E-4CD4-ABC9-F14131CE8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509587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719768-66AD-4859-B4E0-7C1714D86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52650"/>
            <a:ext cx="4752975" cy="3409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CONTEXT_SET stock_1_inputs {</a:t>
            </a:r>
          </a:p>
          <a:p xmlns:a="http://schemas.openxmlformats.org/drawingml/2006/main">
            <a:pPr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  workspace file "data/stock_1.json";</a:t>
            </a:r>
          </a:p>
          <a:p xmlns:a="http://schemas.openxmlformats.org/drawingml/2006/main">
            <a:pPr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  workspace file "data/top_decliners.md";</a:t>
            </a:r>
          </a:p>
          <a:p xmlns:a="http://schemas.openxmlformats.org/drawingml/2006/main">
            <a:pPr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REACT analyze_stock_1 MAX 3</a:t>
            </a:r>
          </a:p>
          <a:p xmlns:a="http://schemas.openxmlformats.org/drawingml/2006/main">
            <a:pPr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  REASON CODEX</a:t>
            </a:r>
          </a:p>
          <a:p xmlns:a="http://schemas.openxmlformats.org/drawingml/2006/main">
            <a:pPr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    PROMPT "02_reason/agents/prompt.md"</a:t>
            </a:r>
          </a:p>
          <a:p xmlns:a="http://schemas.openxmlformats.org/drawingml/2006/main">
            <a:pPr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    CONTEXT stock_1_inputs</a:t>
            </a:r>
          </a:p>
          <a:p xmlns:a="http://schemas.openxmlformats.org/drawingml/2006/main">
            <a:pPr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    RESULT state.analysis.stock_1.reason_result</a:t>
            </a:r>
          </a:p>
          <a:p xmlns:a="http://schemas.openxmlformats.org/drawingml/2006/main">
            <a:pPr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  ACT CODEX</a:t>
            </a:r>
          </a:p>
          <a:p xmlns:a="http://schemas.openxmlformats.org/drawingml/2006/main">
            <a:pPr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    PROMPT "03_act/agents/prompt.md"</a:t>
            </a:r>
          </a:p>
          <a:p xmlns:a="http://schemas.openxmlformats.org/drawingml/2006/main">
            <a:pPr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    CONTEXT workspace dir "reports/stock_1"</a:t>
            </a:r>
          </a:p>
          <a:p xmlns:a="http://schemas.openxmlformats.org/drawingml/2006/main">
            <a:pPr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    RESULT state.analysis.stock_1.act_result</a:t>
            </a:r>
          </a:p>
          <a:p xmlns:a="http://schemas.openxmlformats.org/drawingml/2006/main">
            <a:pPr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  OBSERVE CODEX</a:t>
            </a:r>
          </a:p>
          <a:p xmlns:a="http://schemas.openxmlformats.org/drawingml/2006/main">
            <a:pPr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    PROMPT "04_observe/agents/prompt.md"</a:t>
            </a:r>
          </a:p>
          <a:p xmlns:a="http://schemas.openxmlformats.org/drawingml/2006/main">
            <a:pPr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    CONTEXT workspace dir "reports/stock_1"</a:t>
            </a:r>
          </a:p>
          <a:p xmlns:a="http://schemas.openxmlformats.org/drawingml/2006/main">
            <a:pPr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    RESULT state.analysis.stock_1.review_result</a:t>
            </a:r>
          </a:p>
          <a:p xmlns:a="http://schemas.openxmlformats.org/drawingml/2006/main">
            <a:pPr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  DECIDE PY</a:t>
            </a:r>
          </a:p>
          <a:p xmlns:a="http://schemas.openxmlformats.org/drawingml/2006/main">
            <a:pPr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    SCRIPT "05_decide/scripts/decide.py"</a:t>
            </a:r>
          </a:p>
          <a:p xmlns:a="http://schemas.openxmlformats.org/drawingml/2006/main">
            <a:pPr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    RESULT state.analysis.stock_1.decide_result</a:t>
            </a:r>
          </a:p>
          <a:p xmlns:a="http://schemas.openxmlformats.org/drawingml/2006/main">
            <a:pPr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    UPDATES_STATE;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601031-4C6D-4574-B01F-22C80CD1E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LGWF Workflow 工具入口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075D77-6936-426E-9B65-432F2B8BB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55017174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E7151E-9638-4D9C-B289-5160843AD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Agent loop 示例：同一分析任务按六段闭环推进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564AAF-9ADD-4FA9-8544-C1AB8D53C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a_share_decliners_3d_agent_loop 在 stock_1 分析阶段使用 AGENT_LOOP。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BE05E7-C565-460F-82BA-8A97CF9C3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C1ABC7-012D-4249-80BA-EB896E610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574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6B35"/>
                </a:solidFill>
              </a:defRPr>
            </a:pPr>
            <a:r>
              <a:rPr sz="2025" b="1">
                <a:solidFill>
                  <a:srgbClr val="FF6B35"/>
                </a:solidFill>
              </a:rPr>
              <a:t>什么时候用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0DD745-169A-41AD-AD33-06A99853A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28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AC3538-F798-4633-B5A7-6C90552CE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71750"/>
            <a:ext cx="424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同一个节点需要完整的工程闭环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507735-9DF1-4FFB-A046-7601E19F1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E8E584-3225-454F-B722-13B35B347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71800"/>
            <a:ext cx="424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diagnose 和 plan 要显式拆开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29F354-2942-4163-A4CB-CBD2BFB19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20BA86-7A3D-4E70-BA93-6F00999AA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71850"/>
            <a:ext cx="424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verify 是独立 slot，不只靠 observe 判断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67314B-E735-48AF-9435-DA19A7EB8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29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73207B-BCFB-423C-9D66-D62B6E37B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71900"/>
            <a:ext cx="424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loop 需要 artifact、status、report 和人工等待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4CA4A2-053A-48C9-A3C8-C4FF81A87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67250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这个例子和 ReAct 版做同类股票分析，但把分析过程表达为 diagnose、plan、act、observe、verify、decide 六个明确 slot。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333796-9687-4BB5-85C4-0F4D4CB3E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5095875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8C6E8F-D098-4F31-B7B1-5FEFE2C9C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943100"/>
            <a:ext cx="4752975" cy="402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FFFFFF"/>
                </a:solidFill>
              </a:defRPr>
            </a:pPr>
            <a:r>
              <a:rPr sz="938">
                <a:solidFill>
                  <a:srgbClr val="FFFFFF"/>
                </a:solidFill>
              </a:rPr>
              <a:t>AGENT_LOOP analyze_stock_1</a:t>
            </a:r>
          </a:p>
          <a:p xmlns:a="http://schemas.openxmlformats.org/drawingml/2006/main">
            <a:pPr>
              <a:defRPr sz="938">
                <a:solidFill>
                  <a:srgbClr val="FFFFFF"/>
                </a:solidFill>
              </a:defRPr>
            </a:pPr>
            <a:r>
              <a:rPr sz="938">
                <a:solidFill>
                  <a:srgbClr val="FFFFFF"/>
                </a:solidFill>
              </a:rPr>
              <a:t>  MAX_ITERATIONS 2</a:t>
            </a:r>
          </a:p>
          <a:p xmlns:a="http://schemas.openxmlformats.org/drawingml/2006/main">
            <a:pPr>
              <a:defRPr sz="938">
                <a:solidFill>
                  <a:srgbClr val="FFFFFF"/>
                </a:solidFill>
              </a:defRPr>
            </a:pPr>
            <a:r>
              <a:rPr sz="938">
                <a:solidFill>
                  <a:srgbClr val="FFFFFF"/>
                </a:solidFill>
              </a:rPr>
              <a:t>  ARTIFACTS ".lgwf/loops/analyze_stock_1"</a:t>
            </a:r>
          </a:p>
          <a:p xmlns:a="http://schemas.openxmlformats.org/drawingml/2006/main">
            <a:pPr>
              <a:defRPr sz="938">
                <a:solidFill>
                  <a:srgbClr val="FFFFFF"/>
                </a:solidFill>
              </a:defRPr>
            </a:pPr>
            <a:r>
              <a:rPr sz="938">
                <a:solidFill>
                  <a:srgbClr val="FFFFFF"/>
                </a:solidFill>
              </a:rPr>
              <a:t>  STATUS state.agent_loop.analyze_stock_1.status</a:t>
            </a:r>
          </a:p>
          <a:p xmlns:a="http://schemas.openxmlformats.org/drawingml/2006/main">
            <a:pPr>
              <a:defRPr sz="938">
                <a:solidFill>
                  <a:srgbClr val="FFFFFF"/>
                </a:solidFill>
              </a:defRPr>
            </a:pPr>
            <a:r>
              <a:rPr sz="938">
                <a:solidFill>
                  <a:srgbClr val="FFFFFF"/>
                </a:solidFill>
              </a:rPr>
              <a:t>  REPORT state.agent_loop.analyze_stock_1.report</a:t>
            </a:r>
          </a:p>
          <a:p xmlns:a="http://schemas.openxmlformats.org/drawingml/2006/main">
            <a:pPr>
              <a:defRPr sz="938">
                <a:solidFill>
                  <a:srgbClr val="FFFFFF"/>
                </a:solidFill>
              </a:defRPr>
            </a:pPr>
            <a:r>
              <a:rPr sz="938">
                <a:solidFill>
                  <a:srgbClr val="FFFFFF"/>
                </a:solidFill>
              </a:rPr>
              <a:t>  ON_MAX wait_human ON_ERROR wait_human {</a:t>
            </a:r>
          </a:p>
          <a:p xmlns:a="http://schemas.openxmlformats.org/drawingml/2006/main">
            <a:pPr>
              <a:defRPr sz="938">
                <a:solidFill>
                  <a:srgbClr val="FFFFFF"/>
                </a:solidFill>
              </a:defRPr>
            </a:pPr>
            <a:r>
              <a:rPr sz="938">
                <a:solidFill>
                  <a:srgbClr val="FFFFFF"/>
                </a:solidFill>
              </a:rPr>
              <a:t>  DIAGNOSE CODEX diagnose_stock_1</a:t>
            </a:r>
          </a:p>
          <a:p xmlns:a="http://schemas.openxmlformats.org/drawingml/2006/main">
            <a:pPr>
              <a:defRPr sz="938">
                <a:solidFill>
                  <a:srgbClr val="FFFFFF"/>
                </a:solidFill>
              </a:defRPr>
            </a:pPr>
            <a:r>
              <a:rPr sz="938">
                <a:solidFill>
                  <a:srgbClr val="FFFFFF"/>
                </a:solidFill>
              </a:rPr>
              <a:t>    PROMPT_REF "02_reason/agents/prompt.md"</a:t>
            </a:r>
          </a:p>
          <a:p xmlns:a="http://schemas.openxmlformats.org/drawingml/2006/main">
            <a:pPr>
              <a:defRPr sz="938">
                <a:solidFill>
                  <a:srgbClr val="FFFFFF"/>
                </a:solidFill>
              </a:defRPr>
            </a:pPr>
            <a:r>
              <a:rPr sz="938">
                <a:solidFill>
                  <a:srgbClr val="FFFFFF"/>
                </a:solidFill>
              </a:rPr>
              <a:t>    RESULT state.agent_loop.analyze_stock_1.current.diagnosis;</a:t>
            </a:r>
          </a:p>
          <a:p xmlns:a="http://schemas.openxmlformats.org/drawingml/2006/main">
            <a:pPr>
              <a:defRPr sz="938">
                <a:solidFill>
                  <a:srgbClr val="FFFFFF"/>
                </a:solidFill>
              </a:defRPr>
            </a:pPr>
            <a:r>
              <a:rPr sz="938">
                <a:solidFill>
                  <a:srgbClr val="FFFFFF"/>
                </a:solidFill>
              </a:rPr>
              <a:t>  PLAN CODEX plan_stock_1</a:t>
            </a:r>
          </a:p>
          <a:p xmlns:a="http://schemas.openxmlformats.org/drawingml/2006/main">
            <a:pPr>
              <a:defRPr sz="938">
                <a:solidFill>
                  <a:srgbClr val="FFFFFF"/>
                </a:solidFill>
              </a:defRPr>
            </a:pPr>
            <a:r>
              <a:rPr sz="938">
                <a:solidFill>
                  <a:srgbClr val="FFFFFF"/>
                </a:solidFill>
              </a:rPr>
              <a:t>    PROMPT_REF "02_reason/agents/prompt.md"</a:t>
            </a:r>
          </a:p>
          <a:p xmlns:a="http://schemas.openxmlformats.org/drawingml/2006/main">
            <a:pPr>
              <a:defRPr sz="938">
                <a:solidFill>
                  <a:srgbClr val="FFFFFF"/>
                </a:solidFill>
              </a:defRPr>
            </a:pPr>
            <a:r>
              <a:rPr sz="938">
                <a:solidFill>
                  <a:srgbClr val="FFFFFF"/>
                </a:solidFill>
              </a:rPr>
              <a:t>    RESULT state.agent_loop.analyze_stock_1.current.plan;</a:t>
            </a:r>
          </a:p>
          <a:p xmlns:a="http://schemas.openxmlformats.org/drawingml/2006/main">
            <a:pPr>
              <a:defRPr sz="938">
                <a:solidFill>
                  <a:srgbClr val="FFFFFF"/>
                </a:solidFill>
              </a:defRPr>
            </a:pPr>
            <a:r>
              <a:rPr sz="938">
                <a:solidFill>
                  <a:srgbClr val="FFFFFF"/>
                </a:solidFill>
              </a:rPr>
              <a:t>  ACT CODEX act_stock_1</a:t>
            </a:r>
          </a:p>
          <a:p xmlns:a="http://schemas.openxmlformats.org/drawingml/2006/main">
            <a:pPr>
              <a:defRPr sz="938">
                <a:solidFill>
                  <a:srgbClr val="FFFFFF"/>
                </a:solidFill>
              </a:defRPr>
            </a:pPr>
            <a:r>
              <a:rPr sz="938">
                <a:solidFill>
                  <a:srgbClr val="FFFFFF"/>
                </a:solidFill>
              </a:rPr>
              <a:t>    PROMPT_REF "03_act/agents/prompt.md"</a:t>
            </a:r>
          </a:p>
          <a:p xmlns:a="http://schemas.openxmlformats.org/drawingml/2006/main">
            <a:pPr>
              <a:defRPr sz="938">
                <a:solidFill>
                  <a:srgbClr val="FFFFFF"/>
                </a:solidFill>
              </a:defRPr>
            </a:pPr>
            <a:r>
              <a:rPr sz="938">
                <a:solidFill>
                  <a:srgbClr val="FFFFFF"/>
                </a:solidFill>
              </a:rPr>
              <a:t>    RESULT state.agent_loop.analyze_stock_1.current.action;</a:t>
            </a:r>
          </a:p>
          <a:p xmlns:a="http://schemas.openxmlformats.org/drawingml/2006/main">
            <a:pPr>
              <a:defRPr sz="938">
                <a:solidFill>
                  <a:srgbClr val="FFFFFF"/>
                </a:solidFill>
              </a:defRPr>
            </a:pPr>
            <a:r>
              <a:rPr sz="938">
                <a:solidFill>
                  <a:srgbClr val="FFFFFF"/>
                </a:solidFill>
              </a:rPr>
              <a:t>  OBSERVE CODEX observe_stock_1</a:t>
            </a:r>
          </a:p>
          <a:p xmlns:a="http://schemas.openxmlformats.org/drawingml/2006/main">
            <a:pPr>
              <a:defRPr sz="938">
                <a:solidFill>
                  <a:srgbClr val="FFFFFF"/>
                </a:solidFill>
              </a:defRPr>
            </a:pPr>
            <a:r>
              <a:rPr sz="938">
                <a:solidFill>
                  <a:srgbClr val="FFFFFF"/>
                </a:solidFill>
              </a:rPr>
              <a:t>    PROMPT_REF "04_observe/agents/prompt.md"</a:t>
            </a:r>
          </a:p>
          <a:p xmlns:a="http://schemas.openxmlformats.org/drawingml/2006/main">
            <a:pPr>
              <a:defRPr sz="938">
                <a:solidFill>
                  <a:srgbClr val="FFFFFF"/>
                </a:solidFill>
              </a:defRPr>
            </a:pPr>
            <a:r>
              <a:rPr sz="938">
                <a:solidFill>
                  <a:srgbClr val="FFFFFF"/>
                </a:solidFill>
              </a:rPr>
              <a:t>    RESULT state.agent_loop.analyze_stock_1.current.observation;</a:t>
            </a:r>
          </a:p>
          <a:p xmlns:a="http://schemas.openxmlformats.org/drawingml/2006/main">
            <a:pPr>
              <a:defRPr sz="938">
                <a:solidFill>
                  <a:srgbClr val="FFFFFF"/>
                </a:solidFill>
              </a:defRPr>
            </a:pPr>
            <a:r>
              <a:rPr sz="938">
                <a:solidFill>
                  <a:srgbClr val="FFFFFF"/>
                </a:solidFill>
              </a:rPr>
              <a:t>  VERIFY PY verify_stock_1_loop</a:t>
            </a:r>
          </a:p>
          <a:p xmlns:a="http://schemas.openxmlformats.org/drawingml/2006/main">
            <a:pPr>
              <a:defRPr sz="938">
                <a:solidFill>
                  <a:srgbClr val="FFFFFF"/>
                </a:solidFill>
              </a:defRPr>
            </a:pPr>
            <a:r>
              <a:rPr sz="938">
                <a:solidFill>
                  <a:srgbClr val="FFFFFF"/>
                </a:solidFill>
              </a:rPr>
              <a:t>    SCRIPT "06_verify/scripts/agent_loop_verify.py"</a:t>
            </a:r>
          </a:p>
          <a:p xmlns:a="http://schemas.openxmlformats.org/drawingml/2006/main">
            <a:pPr>
              <a:defRPr sz="938">
                <a:solidFill>
                  <a:srgbClr val="FFFFFF"/>
                </a:solidFill>
              </a:defRPr>
            </a:pPr>
            <a:r>
              <a:rPr sz="938">
                <a:solidFill>
                  <a:srgbClr val="FFFFFF"/>
                </a:solidFill>
              </a:rPr>
              <a:t>    RESULT state.agent_loop.analyze_stock_1.current.verification;</a:t>
            </a:r>
          </a:p>
          <a:p xmlns:a="http://schemas.openxmlformats.org/drawingml/2006/main">
            <a:pPr>
              <a:defRPr sz="938">
                <a:solidFill>
                  <a:srgbClr val="FFFFFF"/>
                </a:solidFill>
              </a:defRPr>
            </a:pPr>
            <a:r>
              <a:rPr sz="938">
                <a:solidFill>
                  <a:srgbClr val="FFFFFF"/>
                </a:solidFill>
              </a:rPr>
              <a:t>  DECIDE PY decide_stock_1_loop</a:t>
            </a:r>
          </a:p>
          <a:p xmlns:a="http://schemas.openxmlformats.org/drawingml/2006/main">
            <a:pPr>
              <a:defRPr sz="938">
                <a:solidFill>
                  <a:srgbClr val="FFFFFF"/>
                </a:solidFill>
              </a:defRPr>
            </a:pPr>
            <a:r>
              <a:rPr sz="938">
                <a:solidFill>
                  <a:srgbClr val="FFFFFF"/>
                </a:solidFill>
              </a:rPr>
              <a:t>    SCRIPT "05_decide/scripts/agent_loop_decide.py"</a:t>
            </a:r>
          </a:p>
          <a:p xmlns:a="http://schemas.openxmlformats.org/drawingml/2006/main">
            <a:pPr>
              <a:defRPr sz="938">
                <a:solidFill>
                  <a:srgbClr val="FFFFFF"/>
                </a:solidFill>
              </a:defRPr>
            </a:pPr>
            <a:r>
              <a:rPr sz="938">
                <a:solidFill>
                  <a:srgbClr val="FFFFFF"/>
                </a:solidFill>
              </a:rPr>
              <a:t>    RESULT state.agent_loop.analyze_stock_1.current.decision;</a:t>
            </a:r>
          </a:p>
          <a:p xmlns:a="http://schemas.openxmlformats.org/drawingml/2006/main">
            <a:pPr>
              <a:defRPr sz="938">
                <a:solidFill>
                  <a:srgbClr val="FFFFFF"/>
                </a:solidFill>
              </a:defRPr>
            </a:pPr>
            <a:r>
              <a:rPr sz="938">
                <a:solidFill>
                  <a:srgbClr val="FFFFFF"/>
                </a:solidFill>
              </a:rPr>
              <a:t>};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25263A-6D08-40C5-9C74-D37D46A64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LGWF Workflow 工具入口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E46057-4247-4FD1-8220-AE1B4CD33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87610947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56517C1-C5EE-4AA3-8A59-84148DB81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RUN_WORKFLOW 和 HANDOFF 是两种不同桥接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C346E4-E813-48C8-9082-EFB0411B1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一个自动执行下游 workflow，一个把下一步交给用户确认。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E653B3-0D40-4143-A054-941CE2F3A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106B20-B8FB-43AB-9040-22B196770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43100"/>
            <a:ext cx="51435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8E3905-9230-42A7-98D1-3F91B0C5B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288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6B35"/>
                </a:solidFill>
              </a:defRPr>
            </a:pPr>
            <a:r>
              <a:rPr sz="2250" b="1">
                <a:solidFill>
                  <a:srgbClr val="FF6B35"/>
                </a:solidFill>
              </a:rPr>
              <a:t>RUN_WORKFLOW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D788FC-5E55-4343-AC2D-BA757A8EB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24150"/>
            <a:ext cx="4286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用于自动调用独立 child workflow。父 workflow 准备输入、等待 child 完成、消费结果。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BB0237-9A82-44B5-AA34-EBF6018D7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适合：上下游都是稳定 workflow，当前流程可以直接继续执行。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DCB663-84A0-4F02-80B6-79C9CD0F5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4286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032B93-5E6C-4495-866E-9846EF825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48150"/>
            <a:ext cx="39433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FFFFFF"/>
                </a:solidFill>
              </a:defRPr>
            </a:pPr>
            <a:r>
              <a:rPr sz="938">
                <a:solidFill>
                  <a:srgbClr val="FFFFFF"/>
                </a:solidFill>
              </a:rPr>
              <a:t>RUN_WORKFLOW wf_create</a:t>
            </a:r>
          </a:p>
          <a:p xmlns:a="http://schemas.openxmlformats.org/drawingml/2006/main">
            <a:pPr>
              <a:defRPr sz="938">
                <a:solidFill>
                  <a:srgbClr val="FFFFFF"/>
                </a:solidFill>
              </a:defRPr>
            </a:pPr>
            <a:r>
              <a:rPr sz="938">
                <a:solidFill>
                  <a:srgbClr val="FFFFFF"/>
                </a:solidFill>
              </a:rPr>
              <a:t>  WORKFLOW "workflows/wf-create/wf/workflow.lgwf"</a:t>
            </a:r>
          </a:p>
          <a:p xmlns:a="http://schemas.openxmlformats.org/drawingml/2006/main">
            <a:pPr>
              <a:defRPr sz="938">
                <a:solidFill>
                  <a:srgbClr val="FFFFFF"/>
                </a:solidFill>
              </a:defRPr>
            </a:pPr>
            <a:r>
              <a:rPr sz="938">
                <a:solidFill>
                  <a:srgbClr val="FFFFFF"/>
                </a:solidFill>
              </a:rPr>
              <a:t>  WORK_DIR "workflows/wf-create/ws"</a:t>
            </a:r>
          </a:p>
          <a:p xmlns:a="http://schemas.openxmlformats.org/drawingml/2006/main">
            <a:pPr>
              <a:defRPr sz="938">
                <a:solidFill>
                  <a:srgbClr val="FFFFFF"/>
                </a:solidFill>
              </a:defRPr>
            </a:pPr>
            <a:r>
              <a:rPr sz="938">
                <a:solidFill>
                  <a:srgbClr val="FFFFFF"/>
                </a:solidFill>
              </a:rPr>
              <a:t>  INPUT state.convert.create_input</a:t>
            </a:r>
          </a:p>
          <a:p xmlns:a="http://schemas.openxmlformats.org/drawingml/2006/main">
            <a:pPr>
              <a:defRPr sz="938">
                <a:solidFill>
                  <a:srgbClr val="FFFFFF"/>
                </a:solidFill>
              </a:defRPr>
            </a:pPr>
            <a:r>
              <a:rPr sz="938">
                <a:solidFill>
                  <a:srgbClr val="FFFFFF"/>
                </a:solidFill>
              </a:rPr>
              <a:t>  RESULT state.convert.create_result;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EF3E01-211B-4E7D-83B0-EFCDA728A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43100"/>
            <a:ext cx="51435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5BC1A8-ED2E-4875-9D87-E44DC4928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43100"/>
            <a:ext cx="51435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ED30CF-1668-4D8E-AD42-21D5FCDC0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288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HANDOFF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B01CC6-BA2A-4201-A56C-4E4A47FDD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24150"/>
            <a:ext cx="4286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用于把上下文和建议动作交给主 agent 或用户。它暴露 pending action，不自动继续跑。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EFBF96-3A10-4909-899F-08A4E54B2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290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适合：下游动作需要用户确认，或只是建议进入下一条 workflow。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7D8E47-A4D4-4BDB-BC8B-FD4D5AA1C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95750"/>
            <a:ext cx="4286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626D27-2C88-4566-BEE2-3B9152A6E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248150"/>
            <a:ext cx="39433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FFFFFF"/>
                </a:solidFill>
              </a:defRPr>
            </a:pPr>
            <a:r>
              <a:rPr sz="938">
                <a:solidFill>
                  <a:srgbClr val="FFFFFF"/>
                </a:solidFill>
              </a:rPr>
              <a:t>HANDOFF handoff_wf_post_fix</a:t>
            </a:r>
          </a:p>
          <a:p xmlns:a="http://schemas.openxmlformats.org/drawingml/2006/main">
            <a:pPr>
              <a:defRPr sz="938">
                <a:solidFill>
                  <a:srgbClr val="FFFFFF"/>
                </a:solidFill>
              </a:defRPr>
            </a:pPr>
            <a:r>
              <a:rPr sz="938">
                <a:solidFill>
                  <a:srgbClr val="FFFFFF"/>
                </a:solidFill>
              </a:rPr>
              <a:t>  CONTEXT state.create.post_fix_payload</a:t>
            </a:r>
          </a:p>
          <a:p xmlns:a="http://schemas.openxmlformats.org/drawingml/2006/main">
            <a:pPr>
              <a:defRPr sz="938">
                <a:solidFill>
                  <a:srgbClr val="FFFFFF"/>
                </a:solidFill>
              </a:defRPr>
            </a:pPr>
            <a:r>
              <a:rPr sz="938">
                <a:solidFill>
                  <a:srgbClr val="FFFFFF"/>
                </a:solidFill>
              </a:rPr>
              <a:t>  PROMPT "handoff_wf_post_fix.md"</a:t>
            </a:r>
          </a:p>
          <a:p xmlns:a="http://schemas.openxmlformats.org/drawingml/2006/main">
            <a:pPr>
              <a:defRPr sz="938">
                <a:solidFill>
                  <a:srgbClr val="FFFFFF"/>
                </a:solidFill>
              </a:defRPr>
            </a:pPr>
            <a:r>
              <a:rPr sz="938">
                <a:solidFill>
                  <a:srgbClr val="FFFFFF"/>
                </a:solidFill>
              </a:rPr>
              <a:t>  RESULT state.create.post_fix_handoff;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759AD4-CAC1-46DC-BCB2-C563F9ECA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LGWF Workflow 工具入口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2D63B5-AA14-436B-B693-B84160AFE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10935055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68D429C-DE9B-44BA-B044-0F99939C4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常见任务可以直接这样说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7FB2FD-7F08-4D4D-B240-3AD4980F4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用户话术比内部术语更重要。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CD2D2F-75F7-4FAB-8E71-860DFFA9D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A21881-A580-44C4-8E05-A2E88D007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6692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6B35"/>
                </a:solidFill>
              </a:defRPr>
            </a:pPr>
            <a:r>
              <a:rPr sz="1875" b="1">
                <a:solidFill>
                  <a:srgbClr val="FF6B35"/>
                </a:solidFill>
              </a:rPr>
              <a:t>创建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9F4F5B-EE7E-4A50-A487-7273DFDAE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952625"/>
            <a:ext cx="752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F816B3-869B-4BA3-9F56-DBA5BABCA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085975"/>
            <a:ext cx="695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我想创建一个新的 workflow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DCAF4C-F6DA-4B26-8F74-0CB5F9EC0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9082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6B35"/>
                </a:solidFill>
              </a:defRPr>
            </a:pPr>
            <a:r>
              <a:rPr sz="1875" b="1">
                <a:solidFill>
                  <a:srgbClr val="FF6B35"/>
                </a:solidFill>
              </a:rPr>
              <a:t>修复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0CFFD6-0650-4365-9B51-E3F66AB2D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76525"/>
            <a:ext cx="752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5163BC-0279-430B-9136-8B776780E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76525"/>
            <a:ext cx="752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46E171-AEF7-4A24-AC26-4E53FC0E0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809875"/>
            <a:ext cx="695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这个 workflow 跑失败了，帮我修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F10BCB-A5D3-45DE-9367-748B0E1E9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1472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6B35"/>
                </a:solidFill>
              </a:defRPr>
            </a:pPr>
            <a:r>
              <a:rPr sz="1875" b="1">
                <a:solidFill>
                  <a:srgbClr val="FF6B35"/>
                </a:solidFill>
              </a:rPr>
              <a:t>串联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6A4F23-9B35-4146-92B3-87826D267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400425"/>
            <a:ext cx="752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147928-DDC2-4C63-B723-47ABB45B3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533775"/>
            <a:ext cx="695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修完后帮我生成 E2E 测试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0ED5A4-2636-43A3-84AE-820C7C56C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3862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6B35"/>
                </a:solidFill>
              </a:defRPr>
            </a:pPr>
            <a:r>
              <a:rPr sz="1875" b="1">
                <a:solidFill>
                  <a:srgbClr val="FF6B35"/>
                </a:solidFill>
              </a:rPr>
              <a:t>后处理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75FD31-B1B4-4F30-BBB2-B36D3CD69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124325"/>
            <a:ext cx="752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50830A-23D9-416C-92EE-662B060EB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124325"/>
            <a:ext cx="752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95A133-4301-4C14-96F5-8651627C0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257675"/>
            <a:ext cx="695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帮我做一次 post-fix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274B25-B757-4A0C-AF57-C068B2647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6252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6B35"/>
                </a:solidFill>
              </a:defRPr>
            </a:pPr>
            <a:r>
              <a:rPr sz="1875" b="1">
                <a:solidFill>
                  <a:srgbClr val="FF6B35"/>
                </a:solidFill>
              </a:rPr>
              <a:t>自优化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F133B5-EAFB-4E47-902E-148175920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48225"/>
            <a:ext cx="752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71C063-EB4D-49DD-905E-E573AE543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981575"/>
            <a:ext cx="695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帮我做 self-improve 并生成 proposal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ACEB1E-48BC-4318-8F9C-D7987DCD5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LGWF Workflow 工具入口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450C40-07A9-4270-8EAB-6ED2DCDDD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08310857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EC16F1-8E83-4CBD-91C6-9BD9D437D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381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11111"/>
                </a:solidFill>
              </a:defRPr>
            </a:pPr>
            <a:r>
              <a:rPr sz="4050" b="1">
                <a:solidFill>
                  <a:srgbClr val="111111"/>
                </a:solidFill>
              </a:rPr>
              <a:t>下一步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C64F43-6F39-43A3-A47E-FE4575E94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704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55555"/>
                </a:solidFill>
              </a:defRPr>
            </a:pPr>
            <a:r>
              <a:rPr sz="1950" b="0">
                <a:solidFill>
                  <a:srgbClr val="555555"/>
                </a:solidFill>
              </a:rPr>
              <a:t>先初始化，再用自然语言发起第一个 workflow 任务。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2CD79C-8614-4429-AE33-83F8B32E8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0"/>
            <a:ext cx="4476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7B8F32-1682-4FAD-9A7E-C3053AF48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051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/lgwf-wf-tools init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86F6F6-E786-4877-B752-84104657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52700"/>
            <a:ext cx="44767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0D8663-DF91-48D4-B65B-1F962AF32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8765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使用边界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C34EC5-71DC-4535-B8FF-9250A4764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505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0E8EFD-9F43-49CC-A520-72EA740E9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48050"/>
            <a:ext cx="3390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不需要手动接触底层命令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2A5C95-C12B-4883-9594-99C061782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867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8CA700-C7F9-432A-B035-B9E236761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10000"/>
            <a:ext cx="3390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不需要先理解内部目录结构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BEC579-36B6-4019-87CF-9E89F7B37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229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71C6E7-B8A1-40AF-BC07-4074EDF3B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71950"/>
            <a:ext cx="3390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需要维护时再进入 README、AGENTS、docs、tests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BB49B6-6680-45E3-9C7F-B57CA9443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76875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111"/>
                </a:solidFill>
              </a:defRPr>
            </a:pPr>
            <a:r>
              <a:rPr sz="2325" b="1">
                <a:solidFill>
                  <a:srgbClr val="111111"/>
                </a:solidFill>
              </a:rPr>
              <a:t>记住一句话：workflow 相关任务，先从 lgwf-wf-tools 入口进入。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27668D-0AF0-44A2-89F4-336EDC9D8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LGWF Workflow 工具入口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60AC0C-B7A9-4900-B324-B43BBF864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4812609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2026-07-04T02:29:37.6660000Z</dcterms:created>
  <dcterms:modified xsi:type="dcterms:W3CDTF">2026-07-04T02:29:37.6660000Z</dcterms:modified>
</coreProperties>
</file>